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1">
                <a:solidFill>
                  <a:srgbClr val="2563EB"/>
                </a:solidFill>
                <a:latin typeface="Prompt"/>
              </a:defRPr>
            </a:pPr>
            <a:r>
              <a:t>PHP OOP &amp; OOAD PROJECT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1054577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4800" b="1">
                <a:solidFill>
                  <a:srgbClr val="1E3A8A"/>
                </a:solidFill>
                <a:latin typeface="Prompt"/>
              </a:defRPr>
            </a:pPr>
            <a:r>
              <a:t>ระบบบันทึกและจัดการสิ่งที่ต้องทำ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337560"/>
            <a:ext cx="1054577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800" b="0">
                <a:solidFill>
                  <a:srgbClr val="64748B"/>
                </a:solidFill>
                <a:latin typeface="Prompt"/>
              </a:defRPr>
            </a:pPr>
            <a:r>
              <a:t>การออกแบบสถาปัตยกรรมส่วนหลังบ้านด้วย PHP OOP และ REST API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4160520"/>
            <a:ext cx="1054577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4480560"/>
            <a:ext cx="499811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1">
                <a:solidFill>
                  <a:srgbClr val="2563EB"/>
                </a:solidFill>
                <a:latin typeface="Prompt"/>
              </a:defRPr>
            </a:pPr>
            <a:r>
              <a:t>ผู้รับผิดชอบส่วนหลังบ้าน (Backend Developer)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846320"/>
            <a:ext cx="499811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Prompt"/>
              </a:defRPr>
            </a:pPr>
            <a:r>
              <a:t>นักศึกษาผู้พัฒนาส่วนฐานข้อมูลและคลาสเชิงวัตถุ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69710" y="4480560"/>
            <a:ext cx="499811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1">
                <a:solidFill>
                  <a:srgbClr val="2563EB"/>
                </a:solidFill>
                <a:latin typeface="Prompt"/>
              </a:defRPr>
            </a:pPr>
            <a:r>
              <a:t>สถาปัตยกรรมระบบ (Architecture)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69710" y="4846320"/>
            <a:ext cx="499811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Prompt"/>
              </a:defRPr>
            </a:pPr>
            <a:r>
              <a:t>Decoupled MVC Pattern / MySQL / PDO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1054577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  <a:latin typeface="Prompt"/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1054577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400" b="1">
                <a:solidFill>
                  <a:srgbClr val="0F172A"/>
                </a:solidFill>
                <a:latin typeface="Prompt"/>
              </a:defRPr>
            </a:pPr>
            <a:r>
              <a:t>สถาปัตยกรรมระบบแบบ Decoupled MVC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91640"/>
            <a:ext cx="1054577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011680"/>
            <a:ext cx="3240633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000" b="1">
                <a:solidFill>
                  <a:srgbClr val="2563EB"/>
                </a:solidFill>
                <a:latin typeface="Prompt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23160"/>
            <a:ext cx="3240633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800" b="1">
                <a:solidFill>
                  <a:srgbClr val="1E3A8A"/>
                </a:solidFill>
                <a:latin typeface="Prompt"/>
              </a:defRPr>
            </a:pPr>
            <a:r>
              <a:t>View (หน้าบ้าน)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26080"/>
            <a:ext cx="3240633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>
                <a:solidFill>
                  <a:srgbClr val="0F172A"/>
                </a:solidFill>
                <a:latin typeface="Prompt"/>
              </a:defRPr>
            </a:pPr>
            <a:r>
              <a:t>• พัฒนาด้วย HTML5, CSS3 และ JavaScript</a:t>
            </a:r>
            <a:br/>
            <a:r>
              <a:t>• แสดงผลแบบ Single Page Application</a:t>
            </a:r>
            <a:br/>
            <a:r>
              <a:t>• ติดต่อหลังบ้านผ่านคำขอแบบ Fetch API</a:t>
            </a:r>
            <a:br/>
            <a:r>
              <a:t>• ไม่มีการเขียนโค้ดต่อฐานข้อมูลที่ฝั่งผู้ใช้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75073" y="2011680"/>
            <a:ext cx="3240633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000" b="1">
                <a:solidFill>
                  <a:srgbClr val="2563EB"/>
                </a:solidFill>
                <a:latin typeface="Prompt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75073" y="2423160"/>
            <a:ext cx="3240633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800" b="1">
                <a:solidFill>
                  <a:srgbClr val="1E3A8A"/>
                </a:solidFill>
                <a:latin typeface="Prompt"/>
              </a:defRPr>
            </a:pPr>
            <a:r>
              <a:t>Controller (ตัวกลาง API)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75073" y="2926080"/>
            <a:ext cx="3240633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>
                <a:solidFill>
                  <a:srgbClr val="0F172A"/>
                </a:solidFill>
                <a:latin typeface="Prompt"/>
              </a:defRPr>
            </a:pPr>
            <a:r>
              <a:t>• อยู่ในโฟลเดอร์ api/ ทำหน้าที่เป็น REST API</a:t>
            </a:r>
            <a:br/>
            <a:r>
              <a:t>• รับคำสั่ง GET, POST, DELETE จากหน้าเว็บ</a:t>
            </a:r>
            <a:br/>
            <a:r>
              <a:t>• ตรวจสอบความถูกต้องของข้อมูลที่ส่งมา</a:t>
            </a:r>
            <a:br/>
            <a:r>
              <a:t>• ตอบกลับผลลัพธ์ในรูปแบบมาตรฐาน JSON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27187" y="2011680"/>
            <a:ext cx="3240633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000" b="1">
                <a:solidFill>
                  <a:srgbClr val="2563EB"/>
                </a:solidFill>
                <a:latin typeface="Prompt"/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27187" y="2423160"/>
            <a:ext cx="3240633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800" b="1">
                <a:solidFill>
                  <a:srgbClr val="1E3A8A"/>
                </a:solidFill>
                <a:latin typeface="Prompt"/>
              </a:defRPr>
            </a:pPr>
            <a:r>
              <a:t>Model (ตรรกะเชิงวัตถุ)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27187" y="2926080"/>
            <a:ext cx="3240633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>
                <a:solidFill>
                  <a:srgbClr val="0F172A"/>
                </a:solidFill>
                <a:latin typeface="Prompt"/>
              </a:defRPr>
            </a:pPr>
            <a:r>
              <a:t>• คลาส PHP OOP แท้ๆ ในโฟลเดอร์ models/</a:t>
            </a:r>
            <a:br/>
            <a:r>
              <a:t>• รับผิดชอบการคำนวณและคำสั่ง SQL ทั้งหมด</a:t>
            </a:r>
            <a:br/>
            <a:r>
              <a:t>• เชื่อมต่อฐานข้อมูล MySQL ผ่านทาง PDO</a:t>
            </a:r>
            <a:br/>
            <a:r>
              <a:t>• แยกหน้าที่ชัดเจน ไม่ปะปนกับส่วนแสดงผล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1054577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  <a:latin typeface="Prompt"/>
              </a:defRPr>
            </a:pPr>
            <a:r>
              <a:t>DOMAIN MODELING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1054577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400" b="1">
                <a:solidFill>
                  <a:srgbClr val="0F172A"/>
                </a:solidFill>
                <a:latin typeface="Prompt"/>
              </a:defRPr>
            </a:pPr>
            <a:r>
              <a:t>โครงสร้างคลาสตามหลักการโปรแกรมเชิงวัตถุ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91640"/>
            <a:ext cx="1054577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011680"/>
            <a:ext cx="3240633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  <a:latin typeface="Prompt"/>
              </a:defRPr>
            </a:pPr>
            <a:r>
              <a:t>CONNECTION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77440"/>
            <a:ext cx="3240633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800" b="1">
                <a:solidFill>
                  <a:srgbClr val="1E3A8A"/>
                </a:solidFill>
                <a:latin typeface="Prompt"/>
              </a:defRPr>
            </a:pPr>
            <a:r>
              <a:t>Class Database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834640"/>
            <a:ext cx="3240633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>
                <a:solidFill>
                  <a:srgbClr val="0F172A"/>
                </a:solidFill>
                <a:latin typeface="Prompt"/>
              </a:defRPr>
            </a:pPr>
            <a:r>
              <a:t>• Attributes:</a:t>
            </a:r>
            <a:br/>
            <a:r>
              <a:t>  - host, db_name, username, password (private)</a:t>
            </a:r>
            <a:br/>
            <a:r>
              <a:t>  - conn (PDO connection)</a:t>
            </a:r>
            <a:br/>
            <a:r>
              <a:t>• Methods:</a:t>
            </a:r>
            <a:br/>
            <a:r>
              <a:t>  + connect(): PDO</a:t>
            </a:r>
            <a:br/>
            <a:br/>
            <a:r>
              <a:t>จัดการการเปิดจุดเชื่อมต่อ MySQL เพียงจุดเดียว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75073" y="2011680"/>
            <a:ext cx="3240633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  <a:latin typeface="Prompt"/>
              </a:defRPr>
            </a:pPr>
            <a:r>
              <a:t>CORE ENTITY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75073" y="2377440"/>
            <a:ext cx="3240633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800" b="1">
                <a:solidFill>
                  <a:srgbClr val="1E3A8A"/>
                </a:solidFill>
                <a:latin typeface="Prompt"/>
              </a:defRPr>
            </a:pPr>
            <a:r>
              <a:t>Class Note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75073" y="2834640"/>
            <a:ext cx="3240633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>
                <a:solidFill>
                  <a:srgbClr val="0F172A"/>
                </a:solidFill>
                <a:latin typeface="Prompt"/>
              </a:defRPr>
            </a:pPr>
            <a:r>
              <a:t>• Attributes:</a:t>
            </a:r>
            <a:br/>
            <a:r>
              <a:t>  - conn, table (private)</a:t>
            </a:r>
            <a:br/>
            <a:r>
              <a:t>  + id, title, type, content, color, reminder_at</a:t>
            </a:r>
            <a:br/>
            <a:r>
              <a:t>• Methods:</a:t>
            </a:r>
            <a:br/>
            <a:r>
              <a:t>  + __construct(db)</a:t>
            </a:r>
            <a:br/>
            <a:r>
              <a:t>  + readAll(sort, category, keyword): array</a:t>
            </a:r>
            <a:br/>
            <a:r>
              <a:t>  + create(data): int / update(id, data): bool</a:t>
            </a:r>
            <a:br/>
            <a:r>
              <a:t>  + delete(id): bool / getReminders(): array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27187" y="2011680"/>
            <a:ext cx="3240633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  <a:latin typeface="Prompt"/>
              </a:defRPr>
            </a:pPr>
            <a:r>
              <a:t>SUB ENTITY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27187" y="2377440"/>
            <a:ext cx="3240633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800" b="1">
                <a:solidFill>
                  <a:srgbClr val="1E3A8A"/>
                </a:solidFill>
                <a:latin typeface="Prompt"/>
              </a:defRPr>
            </a:pPr>
            <a:r>
              <a:t>Class TodoItem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27187" y="2834640"/>
            <a:ext cx="3240633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>
                <a:solidFill>
                  <a:srgbClr val="0F172A"/>
                </a:solidFill>
                <a:latin typeface="Prompt"/>
              </a:defRPr>
            </a:pPr>
            <a:r>
              <a:t>• Attributes:</a:t>
            </a:r>
            <a:br/>
            <a:r>
              <a:t>  - conn, table (private)</a:t>
            </a:r>
            <a:br/>
            <a:r>
              <a:t>• Methods:</a:t>
            </a:r>
            <a:br/>
            <a:r>
              <a:t>  + __construct(db)</a:t>
            </a:r>
            <a:br/>
            <a:r>
              <a:t>  + toggle(id, is_done): bool</a:t>
            </a:r>
            <a:br/>
            <a:r>
              <a:t>  + create(note_id, text): int</a:t>
            </a:r>
            <a:br/>
            <a:r>
              <a:t>  + delete(id): bool</a:t>
            </a:r>
            <a:br/>
            <a:br/>
            <a:r>
              <a:t>จัดการรายการย่อย ความสัมพันธ์แบบ 1 ต่อกลุ่ม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1054577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  <a:latin typeface="Prompt"/>
              </a:defRPr>
            </a:pPr>
            <a:r>
              <a:t>OBJECT-ORIENTED PRINCIPLES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1054577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400" b="1">
                <a:solidFill>
                  <a:srgbClr val="0F172A"/>
                </a:solidFill>
                <a:latin typeface="Prompt"/>
              </a:defRPr>
            </a:pPr>
            <a:r>
              <a:t>การประยุกต์ใช้หลักการเชิงวัตถุในโค้ด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91640"/>
            <a:ext cx="1054577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011680"/>
            <a:ext cx="499811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  <a:latin typeface="Prompt"/>
              </a:defRPr>
            </a:pPr>
            <a:r>
              <a:t>PRINCIPLE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77440"/>
            <a:ext cx="499811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800" b="1">
                <a:solidFill>
                  <a:srgbClr val="1E3A8A"/>
                </a:solidFill>
                <a:latin typeface="Prompt"/>
              </a:defRPr>
            </a:pPr>
            <a:r>
              <a:t>Encapsulation (การห่อหุ้ม)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880360"/>
            <a:ext cx="4998110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>
                <a:solidFill>
                  <a:srgbClr val="0F172A"/>
                </a:solidFill>
                <a:latin typeface="Prompt"/>
              </a:defRPr>
            </a:pPr>
            <a:r>
              <a:t>• ซ่อนข้อมูลการเชื่อมต่อฐานข้อมูลเป็น private ใน Database</a:t>
            </a:r>
            <a:br/>
            <a:r>
              <a:t>• ตัวแปร $conn และ $table ใน Model ทุกตัวถูกล็อกเป็น private</a:t>
            </a:r>
            <a:br/>
            <a:r>
              <a:t>• คลาสภายนอกไม่สามารถเข้าถึงตัวแปรสำคัญได้โดยตรง</a:t>
            </a:r>
            <a:br/>
            <a:r>
              <a:t>• เข้าถึงข้อมูลผ่านทาง Method ที่กำหนดไว้เท่านั้น</a:t>
            </a:r>
            <a:br/>
            <a:r>
              <a:t>• ป้องกันข้อผิดพลาดจากการแก้ไขค่าตัวแปรโดยพลการ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69710" y="2011680"/>
            <a:ext cx="499811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  <a:latin typeface="Prompt"/>
              </a:defRPr>
            </a:pPr>
            <a:r>
              <a:t>PRINCIPLE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69710" y="2377440"/>
            <a:ext cx="499811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800" b="1">
                <a:solidFill>
                  <a:srgbClr val="1E3A8A"/>
                </a:solidFill>
                <a:latin typeface="Prompt"/>
              </a:defRPr>
            </a:pPr>
            <a:r>
              <a:t>Dependency Injection (การส่งต่ออ็อบเจกต์)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69710" y="2880360"/>
            <a:ext cx="4998110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>
                <a:solidFill>
                  <a:srgbClr val="0F172A"/>
                </a:solidFill>
                <a:latin typeface="Prompt"/>
              </a:defRPr>
            </a:pPr>
            <a:r>
              <a:t>• คลาส Note และ TodoItem รับการเชื่อมต่อผ่าน __construct($db)</a:t>
            </a:r>
            <a:br/>
            <a:r>
              <a:t>• ไม่สร้างอ็อบเจกต์การเชื่อมต่อซ้ำซ้อนภายในคลาส</a:t>
            </a:r>
            <a:br/>
            <a:r>
              <a:t>• ระบบทั้งหมดใช้งาน Connection เดียวกันอย่างมีประสิทธิภาพ</a:t>
            </a:r>
            <a:br/>
            <a:r>
              <a:t>• ลดการใช้หน่วยความจำและทรัพยากรของเซิร์ฟเวอร์</a:t>
            </a:r>
            <a:br/>
            <a:r>
              <a:t>• เอื้อต่อการทดสอบการทำงานของแต่ละคลาสได้อย่างอิสระ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1054577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  <a:latin typeface="Prompt"/>
              </a:defRPr>
            </a:pPr>
            <a:r>
              <a:t>RESPONSIBILITY &amp;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1054577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400" b="1">
                <a:solidFill>
                  <a:srgbClr val="0F172A"/>
                </a:solidFill>
                <a:latin typeface="Prompt"/>
              </a:defRPr>
            </a:pPr>
            <a:r>
              <a:t>การแยกขอบเขตหน้าที่และการประมวลผลข้อมูล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91640"/>
            <a:ext cx="1054577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011680"/>
            <a:ext cx="499811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  <a:latin typeface="Prompt"/>
              </a:defRPr>
            </a:pPr>
            <a:r>
              <a:t>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77440"/>
            <a:ext cx="499811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800" b="1">
                <a:solidFill>
                  <a:srgbClr val="1E3A8A"/>
                </a:solidFill>
                <a:latin typeface="Prompt"/>
              </a:defRPr>
            </a:pPr>
            <a:r>
              <a:t>Single Responsibility Principle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880360"/>
            <a:ext cx="4998110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>
                <a:solidFill>
                  <a:srgbClr val="0F172A"/>
                </a:solidFill>
                <a:latin typeface="Prompt"/>
              </a:defRPr>
            </a:pPr>
            <a:r>
              <a:t>• แยกคลาส TodoItem ออกมาจากคลาส Note อย่างเด็ดขาด</a:t>
            </a:r>
            <a:br/>
            <a:r>
              <a:t>• Note ดูแลหัวข้อ สี หมวดหมู่ และการค้นหาภาพรวม</a:t>
            </a:r>
            <a:br/>
            <a:r>
              <a:t>• TodoItem ดูแลเฉพาะการติ๊กถูกขีดฆ่า และรายการย่อย</a:t>
            </a:r>
            <a:br/>
            <a:r>
              <a:t>• เมธอด toggle() ทำงานแบบเฉพาะจุด ไม่ต้องโหลดโน๊ตทั้งใบ</a:t>
            </a:r>
            <a:br/>
            <a:r>
              <a:t>• ทำให้โค้ดอ่านง่าย แก้ไขข้อบกพร่องได้รวดเร็ว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69710" y="2011680"/>
            <a:ext cx="499811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  <a:latin typeface="Prompt"/>
              </a:defRPr>
            </a:pPr>
            <a:r>
              <a:t>API CONTROLLER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69710" y="2377440"/>
            <a:ext cx="499811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800" b="1">
                <a:solidFill>
                  <a:srgbClr val="1E3A8A"/>
                </a:solidFill>
                <a:latin typeface="Prompt"/>
              </a:defRPr>
            </a:pPr>
            <a:r>
              <a:t>RESTful Action Routing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69710" y="2880360"/>
            <a:ext cx="4998110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>
                <a:solidFill>
                  <a:srgbClr val="0F172A"/>
                </a:solidFill>
                <a:latin typeface="Prompt"/>
              </a:defRPr>
            </a:pPr>
            <a:r>
              <a:t>• ไฟล์ api/notes.php รองรับคำขออย่างยืดหยุ่น</a:t>
            </a:r>
            <a:br/>
            <a:r>
              <a:t>• GET: รองรับการจัดเรียง การค้นหา และการดึงโน๊ตแจ้งเตือน</a:t>
            </a:r>
            <a:br/>
            <a:r>
              <a:t>• POST: รองรับทั้งการสร้างใหม่ และอัปเดตผ่าน ?action=update</a:t>
            </a:r>
            <a:br/>
            <a:r>
              <a:t>• Interactive Action: รองรับ ?action=toggle_todo จากหน้าเว็บ</a:t>
            </a:r>
            <a:br/>
            <a:r>
              <a:t>• ส่งออก Header Content-Type: application/json มาตรฐานสากล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1054577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  <a:latin typeface="Prompt"/>
              </a:defRPr>
            </a:pPr>
            <a:r>
              <a:t>DATA INTEGRITY &amp;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1054577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400" b="1">
                <a:solidFill>
                  <a:srgbClr val="0F172A"/>
                </a:solidFill>
                <a:latin typeface="Prompt"/>
              </a:defRPr>
            </a:pPr>
            <a:r>
              <a:t>ความปลอดภัยและความถูกต้องของข้อมูล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91640"/>
            <a:ext cx="1054577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011680"/>
            <a:ext cx="3240633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  <a:latin typeface="Prompt"/>
              </a:defRPr>
            </a:pPr>
            <a:r>
              <a:t>DEFENSE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77440"/>
            <a:ext cx="3240633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800" b="1">
                <a:solidFill>
                  <a:srgbClr val="1E3A8A"/>
                </a:solidFill>
                <a:latin typeface="Prompt"/>
              </a:defRPr>
            </a:pPr>
            <a:r>
              <a:t>PDO Prepared Statements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880360"/>
            <a:ext cx="3240633" cy="2194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>
                <a:solidFill>
                  <a:srgbClr val="0F172A"/>
                </a:solidFill>
                <a:latin typeface="Prompt"/>
              </a:defRPr>
            </a:pPr>
            <a:r>
              <a:t>• ใช้ bindValue() ในทุกคำสั่ง</a:t>
            </a:r>
            <a:br/>
            <a:r>
              <a:t>• ป้องกันการโจมตีแบบ SQL Injection</a:t>
            </a:r>
            <a:br/>
            <a:r>
              <a:t>• แยกคำสั่ง SQL ออกจากข้อมูลนำเข้า</a:t>
            </a:r>
            <a:br/>
            <a:r>
              <a:t>• ปลอดภัยกว่าการต่อข้อความแบบดั้งเดิม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75073" y="2011680"/>
            <a:ext cx="3240633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  <a:latin typeface="Prompt"/>
              </a:defRPr>
            </a:pPr>
            <a:r>
              <a:t>DEFENSE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75073" y="2377440"/>
            <a:ext cx="3240633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800" b="1">
                <a:solidFill>
                  <a:srgbClr val="1E3A8A"/>
                </a:solidFill>
                <a:latin typeface="Prompt"/>
              </a:defRPr>
            </a:pPr>
            <a:r>
              <a:t>Unique Asset Naming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75073" y="2880360"/>
            <a:ext cx="3240633" cy="2194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>
                <a:solidFill>
                  <a:srgbClr val="0F172A"/>
                </a:solidFill>
                <a:latin typeface="Prompt"/>
              </a:defRPr>
            </a:pPr>
            <a:r>
              <a:t>• ใช้คำสั่ง uniqid('note_', true)</a:t>
            </a:r>
            <a:br/>
            <a:r>
              <a:t>• สุ่มสร้างชื่อไฟล์ตามเวลาในระดับไมโครวินาที</a:t>
            </a:r>
            <a:br/>
            <a:r>
              <a:t>• ป้องกันการอัปโหลดไฟล์ชื่อซ้ำทับซ้อนกัน</a:t>
            </a:r>
            <a:br/>
            <a:r>
              <a:t>• แยกเก็บไฟล์ในโฟลเดอร์ uploads/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27187" y="2011680"/>
            <a:ext cx="3240633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  <a:latin typeface="Prompt"/>
              </a:defRPr>
            </a:pPr>
            <a:r>
              <a:t>DEFENSE 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27187" y="2377440"/>
            <a:ext cx="3240633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800" b="1">
                <a:solidFill>
                  <a:srgbClr val="1E3A8A"/>
                </a:solidFill>
                <a:latin typeface="Prompt"/>
              </a:defRPr>
            </a:pPr>
            <a:r>
              <a:t>ON DELETE CASCADE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27187" y="2880360"/>
            <a:ext cx="3240633" cy="2194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>
                <a:solidFill>
                  <a:srgbClr val="0F172A"/>
                </a:solidFill>
                <a:latin typeface="Prompt"/>
              </a:defRPr>
            </a:pPr>
            <a:r>
              <a:t>• กำหนด Foreign Key ระดับฐานข้อมูล</a:t>
            </a:r>
            <a:br/>
            <a:r>
              <a:t>• เมื่อลบโน๊ตแม่ ข้อย่อยจะถูกลบตามทันที</a:t>
            </a:r>
            <a:br/>
            <a:r>
              <a:t>• ไม่ต้องเขียนคำสั่งลบหลายรอบในโค้ด</a:t>
            </a:r>
            <a:br/>
            <a:r>
              <a:t>• ป้องกันปัญหาข้อมูลลูกกำพร้าตกค้าง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1054577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  <a:latin typeface="Prompt"/>
              </a:defRPr>
            </a:pPr>
            <a:r>
              <a:t>SUMMARY &amp;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1054577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400" b="1">
                <a:solidFill>
                  <a:srgbClr val="0F172A"/>
                </a:solidFill>
                <a:latin typeface="Prompt"/>
              </a:defRPr>
            </a:pPr>
            <a:r>
              <a:t>สรุปผลการพัฒนาระบบหลังบ้าน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91640"/>
            <a:ext cx="1054577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011680"/>
            <a:ext cx="499811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  <a:latin typeface="Prompt"/>
              </a:defRPr>
            </a:pPr>
            <a:r>
              <a:t>ACHIEVEMENT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77440"/>
            <a:ext cx="499811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800" b="1">
                <a:solidFill>
                  <a:srgbClr val="1E3A8A"/>
                </a:solidFill>
                <a:latin typeface="Prompt"/>
              </a:defRPr>
            </a:pPr>
            <a:r>
              <a:t>ความสำเร็จของการพัฒนาระบบ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880360"/>
            <a:ext cx="4998110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>
                <a:solidFill>
                  <a:srgbClr val="0F172A"/>
                </a:solidFill>
                <a:latin typeface="Prompt"/>
              </a:defRPr>
            </a:pPr>
            <a:r>
              <a:t>• ตอบโจทย์หลักการ OOP ครบถ้วน (Encapsulation, DI, SRP)</a:t>
            </a:r>
            <a:br/>
            <a:r>
              <a:t>• สถาปัตยกรรม Decoupled MVC รองรับการทำงานคู่ขนานได้อย่างราบรื่น</a:t>
            </a:r>
            <a:br/>
            <a:r>
              <a:t>• ฐานข้อมูลมีความสมบูรณ์ รองรับทั้งการค้นหา กรองหมวด และการแจ้งเตือน</a:t>
            </a:r>
            <a:br/>
            <a:r>
              <a:t>• โค้ดมีระเบียบ พร้อมสำหรับการนำไปขยายผลต่อในอนาคต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69710" y="2011680"/>
            <a:ext cx="499811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  <a:latin typeface="Prompt"/>
              </a:defRPr>
            </a:pPr>
            <a:r>
              <a:t>READY FOR DEFENSE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69710" y="2377440"/>
            <a:ext cx="499811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800" b="1">
                <a:solidFill>
                  <a:srgbClr val="1E3A8A"/>
                </a:solidFill>
                <a:latin typeface="Prompt"/>
              </a:defRPr>
            </a:pPr>
            <a:r>
              <a:t>ขอขอบคุณคณะกรรมการและอาจารย์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69710" y="2880360"/>
            <a:ext cx="4998110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Prompt"/>
              </a:defRPr>
            </a:pPr>
            <a:r>
              <a:t>ระบบหลังบ้านพร้อมสำหรับการสาธิตการทำงานจริง</a:t>
            </a:r>
            <a:br/>
            <a:br/>
            <a:r>
              <a:t>ยินดีตอบทุกข้อซักถามและรับคำแนะนำเพื่อการพัฒนาต่อไปครับ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